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06469e75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06469e75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06469e7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b06469e7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06469e758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06469e75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06469e75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06469e75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d251bb473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d251bb473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06469e75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06469e75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06469e75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06469e75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06469e75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06469e75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Registration System</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Presented by Mr. John Albert David</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ctrTitle"/>
          </p:nvPr>
        </p:nvSpPr>
        <p:spPr>
          <a:xfrm>
            <a:off x="2812500" y="1995400"/>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a:t>
            </a:r>
            <a:r>
              <a:rPr lang="en"/>
              <a:t> 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Registration System</a:t>
            </a:r>
            <a:endParaRPr sz="2400"/>
          </a:p>
        </p:txBody>
      </p:sp>
      <p:sp>
        <p:nvSpPr>
          <p:cNvPr id="84" name="Google Shape;84;p15"/>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rPr b="0" lang="en" sz="1400">
                <a:latin typeface="Times New Roman"/>
                <a:ea typeface="Times New Roman"/>
                <a:cs typeface="Times New Roman"/>
                <a:sym typeface="Times New Roman"/>
              </a:rPr>
              <a:t>The Student Registration System is a project developed using the C++ programming language to address common challenges in student registration and applicant management within higher education institutions and it targets  the United Nations Sustainable Development Goal (SDG) 4: Quality Education, specifically:</a:t>
            </a:r>
            <a:endParaRPr b="0" sz="1400">
              <a:latin typeface="Times New Roman"/>
              <a:ea typeface="Times New Roman"/>
              <a:cs typeface="Times New Roman"/>
              <a:sym typeface="Times New Roman"/>
            </a:endParaRPr>
          </a:p>
          <a:p>
            <a:pPr indent="-317500" lvl="0" marL="457200" rtl="0" algn="l">
              <a:lnSpc>
                <a:spcPct val="150000"/>
              </a:lnSpc>
              <a:spcBef>
                <a:spcPts val="1200"/>
              </a:spcBef>
              <a:spcAft>
                <a:spcPts val="0"/>
              </a:spcAft>
              <a:buSzPts val="1400"/>
              <a:buFont typeface="Times New Roman"/>
              <a:buChar char="●"/>
            </a:pPr>
            <a:r>
              <a:rPr lang="en" sz="1400">
                <a:latin typeface="Times New Roman"/>
                <a:ea typeface="Times New Roman"/>
                <a:cs typeface="Times New Roman"/>
                <a:sym typeface="Times New Roman"/>
              </a:rPr>
              <a:t>SDG 4.3</a:t>
            </a:r>
            <a:r>
              <a:rPr b="0" lang="en" sz="1400">
                <a:latin typeface="Times New Roman"/>
                <a:ea typeface="Times New Roman"/>
                <a:cs typeface="Times New Roman"/>
                <a:sym typeface="Times New Roman"/>
              </a:rPr>
              <a:t>: Ensuring equal access for all to affordable and quality tertiary education.</a:t>
            </a:r>
            <a:endParaRPr b="0" sz="1400">
              <a:latin typeface="Times New Roman"/>
              <a:ea typeface="Times New Roman"/>
              <a:cs typeface="Times New Roman"/>
              <a:sym typeface="Times New Roman"/>
            </a:endParaRPr>
          </a:p>
          <a:p>
            <a:pPr indent="-317500" lvl="0" marL="457200" rtl="0" algn="l">
              <a:lnSpc>
                <a:spcPct val="150000"/>
              </a:lnSpc>
              <a:spcBef>
                <a:spcPts val="0"/>
              </a:spcBef>
              <a:spcAft>
                <a:spcPts val="0"/>
              </a:spcAft>
              <a:buSzPts val="1400"/>
              <a:buFont typeface="Times New Roman"/>
              <a:buChar char="●"/>
            </a:pPr>
            <a:r>
              <a:rPr lang="en" sz="1400">
                <a:latin typeface="Times New Roman"/>
                <a:ea typeface="Times New Roman"/>
                <a:cs typeface="Times New Roman"/>
                <a:sym typeface="Times New Roman"/>
              </a:rPr>
              <a:t>SDG 4.a</a:t>
            </a:r>
            <a:r>
              <a:rPr b="0" lang="en" sz="1400">
                <a:latin typeface="Times New Roman"/>
                <a:ea typeface="Times New Roman"/>
                <a:cs typeface="Times New Roman"/>
                <a:sym typeface="Times New Roman"/>
              </a:rPr>
              <a:t>: Improving education systems through student-centered and inclusive administrative solutions.</a:t>
            </a:r>
            <a:endParaRPr b="0" sz="1400">
              <a:latin typeface="Times New Roman"/>
              <a:ea typeface="Times New Roman"/>
              <a:cs typeface="Times New Roman"/>
              <a:sym typeface="Times New Roman"/>
            </a:endParaRPr>
          </a:p>
          <a:p>
            <a:pPr indent="0" lvl="0" marL="0" rtl="0" algn="l">
              <a:lnSpc>
                <a:spcPct val="150000"/>
              </a:lnSpc>
              <a:spcBef>
                <a:spcPts val="1200"/>
              </a:spcBef>
              <a:spcAft>
                <a:spcPts val="1200"/>
              </a:spcAft>
              <a:buClr>
                <a:schemeClr val="dk2"/>
              </a:buClr>
              <a:buSzPts val="1100"/>
              <a:buFont typeface="Arial"/>
              <a:buNone/>
            </a:pPr>
            <a:r>
              <a:t/>
            </a:r>
            <a:endParaRPr b="0" sz="14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Registration System</a:t>
            </a:r>
            <a:endParaRPr sz="2400"/>
          </a:p>
        </p:txBody>
      </p:sp>
      <p:sp>
        <p:nvSpPr>
          <p:cNvPr id="90" name="Google Shape;90;p16"/>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2"/>
              </a:buClr>
              <a:buSzPts val="1100"/>
              <a:buFont typeface="Arial"/>
              <a:buNone/>
            </a:pPr>
            <a:r>
              <a:rPr b="0" lang="en" sz="1400">
                <a:latin typeface="Times New Roman"/>
                <a:ea typeface="Times New Roman"/>
                <a:cs typeface="Times New Roman"/>
                <a:sym typeface="Times New Roman"/>
              </a:rPr>
              <a:t>The application enables users to register students, automatically generate unique student identification numbers based on the current date, sort student records by different criteria (Student ID, name, and result average), shortlist qualified applicants, undo the most recent registration, and store data persistently using CSV files. The system is designed with a fixed capacity of 100 students per day, reflecting realistic operational constraints in public universities.</a:t>
            </a:r>
            <a:endParaRPr b="0" sz="1400">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t/>
            </a:r>
            <a:endParaRPr b="0" sz="1400">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b="0" sz="14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Registration System</a:t>
            </a:r>
            <a:endParaRPr sz="2400"/>
          </a:p>
        </p:txBody>
      </p:sp>
      <p:sp>
        <p:nvSpPr>
          <p:cNvPr id="96" name="Google Shape;96;p17"/>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Clr>
                <a:schemeClr val="dk2"/>
              </a:buClr>
              <a:buSzPts val="1100"/>
              <a:buFont typeface="Arial"/>
              <a:buNone/>
            </a:pPr>
            <a:r>
              <a:rPr b="0" lang="en" sz="1400">
                <a:latin typeface="Times New Roman"/>
                <a:ea typeface="Times New Roman"/>
                <a:cs typeface="Times New Roman"/>
                <a:sym typeface="Times New Roman"/>
              </a:rPr>
              <a:t>This capstone project addresses these documented challenges by developing a Student Registration Sorting System capable of accommodating up to 100 students per day, even within a limited scheduling framework. By automating student registration, sorting, shortlisting, and data storage, the system provides a practical solution that reduces administrative workload, minimizes errors, and improves the overall efficiency and reliability of the registration process in Philippine state universities.</a:t>
            </a:r>
            <a:endParaRPr b="0" sz="1400">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t/>
            </a:r>
            <a:endParaRPr b="0" sz="1400">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b="0" sz="14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152250" y="462250"/>
            <a:ext cx="9061500" cy="5052300"/>
          </a:xfrm>
          <a:prstGeom prst="rect">
            <a:avLst/>
          </a:prstGeom>
        </p:spPr>
        <p:txBody>
          <a:bodyPr anchorCtr="0" anchor="t" bIns="91425" lIns="91425" spcFirstLastPara="1" rIns="91425" wrap="square" tIns="91425">
            <a:noAutofit/>
          </a:bodyPr>
          <a:lstStyle/>
          <a:p>
            <a:pPr indent="0" lvl="0" marL="320040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                      </a:t>
            </a:r>
            <a:endParaRPr>
              <a:solidFill>
                <a:schemeClr val="accent5"/>
              </a:solidFill>
            </a:endParaRPr>
          </a:p>
          <a:p>
            <a:pPr indent="0" lvl="0" marL="0" rtl="0" algn="l">
              <a:spcBef>
                <a:spcPts val="0"/>
              </a:spcBef>
              <a:spcAft>
                <a:spcPts val="0"/>
              </a:spcAft>
              <a:buNone/>
            </a:pPr>
            <a:r>
              <a:rPr lang="en">
                <a:solidFill>
                  <a:schemeClr val="accent5"/>
                </a:solidFill>
              </a:rPr>
              <a:t>                       Features</a:t>
            </a:r>
            <a:endParaRPr>
              <a:solidFill>
                <a:schemeClr val="accent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5" name="Shape 105"/>
        <p:cNvGrpSpPr/>
        <p:nvPr/>
      </p:nvGrpSpPr>
      <p:grpSpPr>
        <a:xfrm>
          <a:off x="0" y="0"/>
          <a:ext cx="0" cy="0"/>
          <a:chOff x="0" y="0"/>
          <a:chExt cx="0" cy="0"/>
        </a:xfrm>
      </p:grpSpPr>
      <p:pic>
        <p:nvPicPr>
          <p:cNvPr id="106" name="Google Shape;106;p19"/>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07" name="Google Shape;107;p19"/>
          <p:cNvPicPr preferRelativeResize="0"/>
          <p:nvPr/>
        </p:nvPicPr>
        <p:blipFill rotWithShape="1">
          <a:blip r:embed="rId4">
            <a:alphaModFix/>
          </a:blip>
          <a:srcRect b="10011" l="9244" r="2118" t="5926"/>
          <a:stretch/>
        </p:blipFill>
        <p:spPr>
          <a:xfrm rot="154828">
            <a:off x="3536000" y="147301"/>
            <a:ext cx="2072000" cy="736050"/>
          </a:xfrm>
          <a:prstGeom prst="rect">
            <a:avLst/>
          </a:prstGeom>
          <a:noFill/>
          <a:ln>
            <a:noFill/>
          </a:ln>
        </p:spPr>
      </p:pic>
      <p:sp>
        <p:nvSpPr>
          <p:cNvPr id="108" name="Google Shape;108;p19"/>
          <p:cNvSpPr txBox="1"/>
          <p:nvPr/>
        </p:nvSpPr>
        <p:spPr>
          <a:xfrm>
            <a:off x="2855550" y="1053225"/>
            <a:ext cx="3140700" cy="261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chemeClr val="lt2"/>
                </a:solidFill>
                <a:latin typeface="Raleway"/>
                <a:ea typeface="Raleway"/>
                <a:cs typeface="Raleway"/>
                <a:sym typeface="Raleway"/>
              </a:rPr>
              <a:t>Registration System</a:t>
            </a:r>
            <a:endParaRPr b="1" sz="2100">
              <a:solidFill>
                <a:schemeClr val="lt2"/>
              </a:solidFill>
              <a:latin typeface="Raleway"/>
              <a:ea typeface="Raleway"/>
              <a:cs typeface="Raleway"/>
              <a:sym typeface="Raleway"/>
            </a:endParaRPr>
          </a:p>
        </p:txBody>
      </p:sp>
      <p:sp>
        <p:nvSpPr>
          <p:cNvPr id="109" name="Google Shape;109;p19"/>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dk2"/>
              </a:solidFill>
              <a:latin typeface="Raleway"/>
              <a:ea typeface="Raleway"/>
              <a:cs typeface="Raleway"/>
              <a:sym typeface="Raleway"/>
            </a:endParaRPr>
          </a:p>
          <a:p>
            <a:pPr indent="-317500" lvl="0" marL="457200" rtl="0" algn="l">
              <a:spcBef>
                <a:spcPts val="1600"/>
              </a:spcBef>
              <a:spcAft>
                <a:spcPts val="0"/>
              </a:spcAft>
              <a:buClr>
                <a:schemeClr val="dk1"/>
              </a:buClr>
              <a:buSzPts val="1400"/>
              <a:buFont typeface="Raleway"/>
              <a:buChar char="➔"/>
            </a:pPr>
            <a:r>
              <a:rPr b="1" lang="en" sz="1400">
                <a:solidFill>
                  <a:schemeClr val="dk1"/>
                </a:solidFill>
                <a:latin typeface="Raleway"/>
                <a:ea typeface="Raleway"/>
                <a:cs typeface="Raleway"/>
                <a:sym typeface="Raleway"/>
              </a:rPr>
              <a:t>Unique Id number</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b="1" lang="en" sz="1400">
                <a:solidFill>
                  <a:schemeClr val="dk1"/>
                </a:solidFill>
                <a:latin typeface="Raleway"/>
                <a:ea typeface="Raleway"/>
                <a:cs typeface="Raleway"/>
                <a:sym typeface="Raleway"/>
              </a:rPr>
              <a:t>Refreshes csv file everyday</a:t>
            </a:r>
            <a:endParaRPr sz="1200">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b="1" lang="en" sz="1400">
                <a:solidFill>
                  <a:schemeClr val="dk1"/>
                </a:solidFill>
                <a:latin typeface="Raleway"/>
                <a:ea typeface="Raleway"/>
                <a:cs typeface="Raleway"/>
                <a:sym typeface="Raleway"/>
              </a:rPr>
              <a:t>Sort the list by student id, name, result</a:t>
            </a:r>
            <a:endParaRPr b="1" sz="1400">
              <a:solidFill>
                <a:schemeClr val="dk1"/>
              </a:solidFill>
              <a:latin typeface="Raleway"/>
              <a:ea typeface="Raleway"/>
              <a:cs typeface="Raleway"/>
              <a:sym typeface="Raleway"/>
            </a:endParaRPr>
          </a:p>
          <a:p>
            <a:pPr indent="-317500" lvl="0" marL="457200" rtl="0" algn="l">
              <a:spcBef>
                <a:spcPts val="1000"/>
              </a:spcBef>
              <a:spcAft>
                <a:spcPts val="1000"/>
              </a:spcAft>
              <a:buClr>
                <a:schemeClr val="dk1"/>
              </a:buClr>
              <a:buSzPts val="1400"/>
              <a:buFont typeface="Raleway"/>
              <a:buChar char="➔"/>
            </a:pPr>
            <a:r>
              <a:rPr b="1" lang="en" sz="1400">
                <a:solidFill>
                  <a:schemeClr val="dk1"/>
                </a:solidFill>
                <a:latin typeface="Raleway"/>
                <a:ea typeface="Raleway"/>
                <a:cs typeface="Raleway"/>
                <a:sym typeface="Raleway"/>
              </a:rPr>
              <a:t>shortlist</a:t>
            </a:r>
            <a:endParaRPr b="1" sz="1400">
              <a:solidFill>
                <a:schemeClr val="dk1"/>
              </a:solidFill>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482825" y="610450"/>
            <a:ext cx="9061500" cy="5052300"/>
          </a:xfrm>
          <a:prstGeom prst="rect">
            <a:avLst/>
          </a:prstGeom>
        </p:spPr>
        <p:txBody>
          <a:bodyPr anchorCtr="0" anchor="t" bIns="91425" lIns="91425" spcFirstLastPara="1" rIns="91425" wrap="square" tIns="91425">
            <a:noAutofit/>
          </a:bodyPr>
          <a:lstStyle/>
          <a:p>
            <a:pPr indent="0" lvl="0" marL="320040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                      </a:t>
            </a:r>
            <a:endParaRPr>
              <a:solidFill>
                <a:schemeClr val="accent5"/>
              </a:solidFill>
            </a:endParaRPr>
          </a:p>
          <a:p>
            <a:pPr indent="0" lvl="0" marL="0" rtl="0" algn="l">
              <a:spcBef>
                <a:spcPts val="0"/>
              </a:spcBef>
              <a:spcAft>
                <a:spcPts val="0"/>
              </a:spcAft>
              <a:buNone/>
            </a:pPr>
            <a:r>
              <a:rPr lang="en">
                <a:solidFill>
                  <a:schemeClr val="accent5"/>
                </a:solidFill>
              </a:rPr>
              <a:t>                    Demonstration</a:t>
            </a:r>
            <a:endParaRPr>
              <a:solidFill>
                <a:schemeClr val="accent5"/>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dk1"/>
                </a:solidFill>
              </a:rPr>
              <a:t>Registration System</a:t>
            </a:r>
            <a:endParaRPr sz="2400"/>
          </a:p>
        </p:txBody>
      </p:sp>
      <p:sp>
        <p:nvSpPr>
          <p:cNvPr id="120" name="Google Shape;120;p21"/>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0" lang="en" sz="1100">
                <a:latin typeface="Times New Roman"/>
                <a:ea typeface="Times New Roman"/>
                <a:cs typeface="Times New Roman"/>
                <a:sym typeface="Times New Roman"/>
              </a:rPr>
              <a:t>The system’s key functionalities including automatic student ID generation, sorting by multiple criteria, shortlisting qualified applicants, undoing recent registrations, and persistent data storage using CSV files demonstrate its effectiveness in reducing administrative workload, minimizing errors, and improving overall operational efficiency.</a:t>
            </a:r>
            <a:endParaRPr b="0"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0" sz="11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0" lang="en" sz="1100">
                <a:latin typeface="Times New Roman"/>
                <a:ea typeface="Times New Roman"/>
                <a:cs typeface="Times New Roman"/>
                <a:sym typeface="Times New Roman"/>
              </a:rPr>
              <a:t>Overall, this capstone project not only provides a practical tool for Philippine state universities but also serves as a foundation for future enhancements, such as expanding daily capacity, incorporating search functions, or integrating database systems to further improve scalability, usability, and administrative effectiveness , adding search capabilities, implementing graphical user interfaces (GUI).</a:t>
            </a:r>
            <a:endParaRPr b="0" sz="1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2"/>
              </a:buClr>
              <a:buSzPts val="1100"/>
              <a:buFont typeface="Arial"/>
              <a:buNone/>
            </a:pPr>
            <a:r>
              <a:t/>
            </a:r>
            <a:endParaRPr b="0" sz="1100">
              <a:latin typeface="Times New Roman"/>
              <a:ea typeface="Times New Roman"/>
              <a:cs typeface="Times New Roman"/>
              <a:sym typeface="Times New Roman"/>
            </a:endParaRPr>
          </a:p>
          <a:p>
            <a:pPr indent="0" lvl="0" marL="457200" rtl="0" algn="l">
              <a:lnSpc>
                <a:spcPct val="150000"/>
              </a:lnSpc>
              <a:spcBef>
                <a:spcPts val="1200"/>
              </a:spcBef>
              <a:spcAft>
                <a:spcPts val="0"/>
              </a:spcAft>
              <a:buNone/>
            </a:pPr>
            <a:r>
              <a:t/>
            </a:r>
            <a:endParaRPr b="0" sz="1400">
              <a:latin typeface="Times New Roman"/>
              <a:ea typeface="Times New Roman"/>
              <a:cs typeface="Times New Roman"/>
              <a:sym typeface="Times New Roman"/>
            </a:endParaRPr>
          </a:p>
          <a:p>
            <a:pPr indent="0" lvl="0" marL="0" rtl="0" algn="l">
              <a:lnSpc>
                <a:spcPct val="150000"/>
              </a:lnSpc>
              <a:spcBef>
                <a:spcPts val="1200"/>
              </a:spcBef>
              <a:spcAft>
                <a:spcPts val="1200"/>
              </a:spcAft>
              <a:buNone/>
            </a:pPr>
            <a:r>
              <a:t/>
            </a:r>
            <a:endParaRPr b="0" sz="1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41250" y="619775"/>
            <a:ext cx="9061500" cy="5052300"/>
          </a:xfrm>
          <a:prstGeom prst="rect">
            <a:avLst/>
          </a:prstGeom>
        </p:spPr>
        <p:txBody>
          <a:bodyPr anchorCtr="0" anchor="t" bIns="91425" lIns="91425" spcFirstLastPara="1" rIns="91425" wrap="square" tIns="91425">
            <a:noAutofit/>
          </a:bodyPr>
          <a:lstStyle/>
          <a:p>
            <a:pPr indent="0" lvl="0" marL="3200400" rtl="0" algn="l">
              <a:spcBef>
                <a:spcPts val="0"/>
              </a:spcBef>
              <a:spcAft>
                <a:spcPts val="0"/>
              </a:spcAft>
              <a:buNone/>
            </a:pPr>
            <a:r>
              <a:t/>
            </a:r>
            <a:endParaRPr>
              <a:solidFill>
                <a:schemeClr val="accent5"/>
              </a:solidFill>
            </a:endParaRPr>
          </a:p>
          <a:p>
            <a:pPr indent="0" lvl="0" marL="0" rtl="0" algn="l">
              <a:spcBef>
                <a:spcPts val="0"/>
              </a:spcBef>
              <a:spcAft>
                <a:spcPts val="0"/>
              </a:spcAft>
              <a:buNone/>
            </a:pPr>
            <a:r>
              <a:rPr lang="en">
                <a:solidFill>
                  <a:schemeClr val="accent5"/>
                </a:solidFill>
              </a:rPr>
              <a:t>                      </a:t>
            </a:r>
            <a:endParaRPr>
              <a:solidFill>
                <a:schemeClr val="accent5"/>
              </a:solidFill>
            </a:endParaRPr>
          </a:p>
          <a:p>
            <a:pPr indent="0" lvl="0" marL="0" rtl="0" algn="l">
              <a:spcBef>
                <a:spcPts val="0"/>
              </a:spcBef>
              <a:spcAft>
                <a:spcPts val="0"/>
              </a:spcAft>
              <a:buNone/>
            </a:pPr>
            <a:r>
              <a:rPr lang="en">
                <a:solidFill>
                  <a:schemeClr val="accent5"/>
                </a:solidFill>
              </a:rPr>
              <a:t>                  Thank you!</a:t>
            </a:r>
            <a:endParaRPr>
              <a:solidFill>
                <a:schemeClr val="accent5"/>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